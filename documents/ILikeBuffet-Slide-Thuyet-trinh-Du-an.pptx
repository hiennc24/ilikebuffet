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Mở đầu: 1 câu định vị — đây không phải phần mềm quản lý chung chung, mà là hệ thống thiết kế riêng cho mô hình buffet hải sản đa chi nhánh của ILikeBuffet.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Nhấn: vấn đề không phải thiếu chăm chỉ — mà là công cụ không theo kịp quy mô. Kế hoạch x2.7 số chi nhánh là lý do phải làm bây giờ.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Điểm nhấn: "một nguồn dữ liệu" — bill bán ra tự chảy vào đối soát, dashboard, P&amp;L; nhận hàng tự sinh nhập kho và công nợ. Không nhập liệu hai lần.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Đây là slide "vì sao đáng tiền". Mỗi cam kết đều đo được và gắn với tiêu chí nghiệm thu trong tài liệu.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Nhấn nguyên tắc thiết kế: người nhập liệu quan trọng hơn người xem báo cáo — thu ngân thao tác nhanh hơn ghi tay thì hệ thống mới sống.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Đây thường là slide khiến kế toán và Chủ chuỗi gật đầu — chốt bằng câu: hôm nay lệch 500 nghìn, sáng mai biết lệch ở ca nào.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số bán hàng: giảm 2–3% hao hụt = hàng trăm triệu/tháng ở quy mô chuỗi — hệ thống tự trả tiền cho chính nó.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Trình bày khéo: không nói "bắt gian" — nói "minh bạch cho tất cả". Nhân viên tốt là người hưởng lợi đầu tiên.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Nhấn điểm kiểm tra tuần 6: dù mốc thanh toán M1 ở tuần 10, ILikeBuffet đã bán hàng thật trên hệ thống từ tuần 6 — giá trị nhìn thấy sớm, rủi ro phát hiện sớm.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quản trị kỳ vọng — trình bày thẳng thắn: 12 tuần khả thi, với điều kiện cả hai bên giữ đúng các cam kết này.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Nếu bị ép giảm giá: đề nghị điều chỉnh phạm vi hoặc tiến độ thay vì giảm chất lượng — 4 hạng mục "không cắt" (offline, đối soát, kiểm kê, audit) là nền tảng giá trị.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Kết thúc bằng lịch cụ thể: đề xuất luôn 2 khung giờ trong tuần cho buổi chốt 8 quyết định — đừng ra về mà không có ngày hẹn.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011680"/>
            <a:ext cx="5943600" cy="59436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663440"/>
            <a:ext cx="5669280" cy="566928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777240"/>
            <a:ext cx="822960" cy="8229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5" name="Image 0" descr="/home/claude/slides/icons/fish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10" y="99121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89611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ILIKEBUFFET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2296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XUẤT DỰ ÁN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QUẢN LÝ &amp; BÁN HÀNG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CHUỖI BUFFET HẢI SẢN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822960" y="4526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Bán vé tại quầy  •  Tài chính &amp; đối soát  •  Kho &amp; hao hụt  •  Mua hàng  •  Báo cáo điều hành đa chi nhánh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5212080"/>
            <a:ext cx="2651760" cy="868680"/>
          </a:xfrm>
          <a:prstGeom prst="roundRect">
            <a:avLst>
              <a:gd name="adj" fmla="val 10526"/>
            </a:avLst>
          </a:prstGeom>
          <a:solidFill>
            <a:srgbClr val="2B3A73"/>
          </a:solidFill>
          <a:ln/>
        </p:spPr>
      </p:sp>
      <p:sp>
        <p:nvSpPr>
          <p:cNvPr id="11" name="Text 8"/>
          <p:cNvSpPr/>
          <p:nvPr/>
        </p:nvSpPr>
        <p:spPr>
          <a:xfrm>
            <a:off x="960120" y="5303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TUẦN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960120" y="56509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 khai MVP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703320" y="5212080"/>
            <a:ext cx="2651760" cy="868680"/>
          </a:xfrm>
          <a:prstGeom prst="roundRect">
            <a:avLst>
              <a:gd name="adj" fmla="val 10526"/>
            </a:avLst>
          </a:prstGeom>
          <a:solidFill>
            <a:srgbClr val="2B3A73"/>
          </a:solidFill>
          <a:ln/>
        </p:spPr>
      </p:sp>
      <p:sp>
        <p:nvSpPr>
          <p:cNvPr id="14" name="Text 11"/>
          <p:cNvSpPr/>
          <p:nvPr/>
        </p:nvSpPr>
        <p:spPr>
          <a:xfrm>
            <a:off x="3840480" y="5303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CHI NHÁNH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3840480" y="56509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Vận hành ngay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583680" y="5212080"/>
            <a:ext cx="2651760" cy="868680"/>
          </a:xfrm>
          <a:prstGeom prst="roundRect">
            <a:avLst>
              <a:gd name="adj" fmla="val 10526"/>
            </a:avLst>
          </a:prstGeom>
          <a:solidFill>
            <a:srgbClr val="2B3A73"/>
          </a:solidFill>
          <a:ln/>
        </p:spPr>
      </p:sp>
      <p:sp>
        <p:nvSpPr>
          <p:cNvPr id="17" name="Text 14"/>
          <p:cNvSpPr/>
          <p:nvPr/>
        </p:nvSpPr>
        <p:spPr>
          <a:xfrm>
            <a:off x="6720840" y="5303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 CHI NHÁNH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6720840" y="56509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Sẵn sàng mở rộng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22960" y="63550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[Tên công ty của bạn]  —  [Người trình bày]  —  [Tháng/2026]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BỐI CẢNH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cần thay đổi ngay bây giờ?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Excel – sổ tay – Zalo hiện tại sẽ không theo kịp kế hoạch tăng trưởng của chuỗi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1231575" y="38404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slides/icons/fish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64712" y="517185"/>
            <a:ext cx="245791" cy="24579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1691640"/>
            <a:ext cx="6675120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9525">
            <a:solidFill>
              <a:srgbClr val="D6E2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13232" y="1874520"/>
            <a:ext cx="676656" cy="676656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9" name="Image 1" descr="/home/claude/slides/icons/warn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163" y="2050451"/>
            <a:ext cx="324795" cy="32479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1801368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liệu chậm &amp; rời rạc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600200" y="2130552"/>
            <a:ext cx="5440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chi nhánh gửi Excel cuối ngày, kế toán cộng tay — bất thường về tiền và kho phát hiện muộn.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02920" y="2898648"/>
            <a:ext cx="6675120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9525">
            <a:solidFill>
              <a:srgbClr val="D6E2E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13232" y="3081528"/>
            <a:ext cx="676656" cy="676656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4" name="Image 2" descr="/home/claude/slides/icons/scale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163" y="3257459"/>
            <a:ext cx="324795" cy="32479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00200" y="3008376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soát thủ công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600200" y="3337560"/>
            <a:ext cx="5440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 thu – tiền két – tiền ngân hàng khớp bằng tay, dễ sai sót và bỏ lọt chênh lệch.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02920" y="4105656"/>
            <a:ext cx="6675120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9525">
            <a:solidFill>
              <a:srgbClr val="D6E2EC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713232" y="4288536"/>
            <a:ext cx="676656" cy="676656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9" name="Image 3" descr="/home/claude/slides/icons/warehouse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163" y="4464467"/>
            <a:ext cx="324795" cy="32479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00200" y="4215384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Hao hụt lộ ra quá muộn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1600200" y="4544568"/>
            <a:ext cx="5440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 hải sản tươi kiểm kê cuối tháng — khi phát hiện thì không còn truy được nguyên nhân.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02920" y="5312664"/>
            <a:ext cx="6675120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9525">
            <a:solidFill>
              <a:srgbClr val="D6E2EC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713232" y="5495544"/>
            <a:ext cx="676656" cy="676656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4" name="Image 4" descr="/home/claude/slides/icons/truck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163" y="5671475"/>
            <a:ext cx="324795" cy="32479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600200" y="5422392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 hàng qua tin nhắn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1600200" y="5751576"/>
            <a:ext cx="5440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phê duyệt, không lưu vết giá — không so sánh được giá mua giữa các chi nhánh.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7498080" y="1691640"/>
            <a:ext cx="4160520" cy="1463040"/>
          </a:xfrm>
          <a:prstGeom prst="roundRect">
            <a:avLst>
              <a:gd name="adj" fmla="val 4375"/>
            </a:avLst>
          </a:prstGeom>
          <a:solidFill>
            <a:srgbClr val="EAF2F8"/>
          </a:solidFill>
          <a:ln w="9525">
            <a:solidFill>
              <a:srgbClr val="D6E2EC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7726680" y="1837944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T+1 → T+3</a:t>
            </a:r>
            <a:endParaRPr lang="en-US" sz="3400" dirty="0"/>
          </a:p>
        </p:txBody>
      </p:sp>
      <p:sp>
        <p:nvSpPr>
          <p:cNvPr id="29" name="Text 22"/>
          <p:cNvSpPr/>
          <p:nvPr/>
        </p:nvSpPr>
        <p:spPr>
          <a:xfrm>
            <a:off x="7726680" y="251460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ngày mới có số liệu tổng hợp toàn chuỗi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7498080" y="3319272"/>
            <a:ext cx="4160520" cy="1463040"/>
          </a:xfrm>
          <a:prstGeom prst="roundRect">
            <a:avLst>
              <a:gd name="adj" fmla="val 4375"/>
            </a:avLst>
          </a:prstGeom>
          <a:solidFill>
            <a:srgbClr val="EAF2F8"/>
          </a:solidFill>
          <a:ln w="9525">
            <a:solidFill>
              <a:srgbClr val="D6E2EC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7726680" y="3465576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35–45%</a:t>
            </a:r>
            <a:endParaRPr lang="en-US" sz="3400" dirty="0"/>
          </a:p>
        </p:txBody>
      </p:sp>
      <p:sp>
        <p:nvSpPr>
          <p:cNvPr id="32" name="Text 25"/>
          <p:cNvSpPr/>
          <p:nvPr/>
        </p:nvSpPr>
        <p:spPr>
          <a:xfrm>
            <a:off x="7726680" y="4142232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 thu là chi phí nguyên liệu — mỗi % hao hụt là tiền thật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7498080" y="4946904"/>
            <a:ext cx="4160520" cy="1463040"/>
          </a:xfrm>
          <a:prstGeom prst="roundRect">
            <a:avLst>
              <a:gd name="adj" fmla="val 4375"/>
            </a:avLst>
          </a:prstGeom>
          <a:solidFill>
            <a:srgbClr val="EAF2F8"/>
          </a:solidFill>
          <a:ln w="9525">
            <a:solidFill>
              <a:srgbClr val="D6E2EC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7726680" y="509320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→ 8</a:t>
            </a:r>
            <a:endParaRPr lang="en-US" sz="3400" dirty="0"/>
          </a:p>
        </p:txBody>
      </p:sp>
      <p:sp>
        <p:nvSpPr>
          <p:cNvPr id="35" name="Text 28"/>
          <p:cNvSpPr/>
          <p:nvPr/>
        </p:nvSpPr>
        <p:spPr>
          <a:xfrm>
            <a:off x="7726680" y="5769864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nhánh trong 12 tháng: mô hình thủ công sẽ quá tải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ILikeBuffet — Đề xuất dự án hệ thống quản lý &amp; bán hàng   | 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hệ thống duy nhất cho toàn chuỗi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Tám phân hệ liên thông trên cùng một nguồn dữ liệu — nhập một lần, chảy tới mọi báo cáo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1231575" y="38404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slides/icons/fish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64712" y="517185"/>
            <a:ext cx="245791" cy="24579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1783080"/>
            <a:ext cx="2770632" cy="1700784"/>
          </a:xfrm>
          <a:prstGeom prst="roundRect">
            <a:avLst>
              <a:gd name="adj" fmla="val 3763"/>
            </a:avLst>
          </a:prstGeom>
          <a:solidFill>
            <a:srgbClr val="EAF2F8"/>
          </a:solidFill>
          <a:ln w="9525">
            <a:solidFill>
              <a:srgbClr val="D6E2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4088" y="1984248"/>
            <a:ext cx="603504" cy="60350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9" name="Image 1" descr="/home/claude/slides/icons/userlock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999" y="2141159"/>
            <a:ext cx="289682" cy="28968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4088" y="267919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 &amp; phân quyền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704088" y="299008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Đúng người – đúng việc – đúng chi nhánh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456432" y="1783080"/>
            <a:ext cx="2770632" cy="1700784"/>
          </a:xfrm>
          <a:prstGeom prst="roundRect">
            <a:avLst>
              <a:gd name="adj" fmla="val 3763"/>
            </a:avLst>
          </a:prstGeom>
          <a:solidFill>
            <a:srgbClr val="EAF2F8"/>
          </a:solidFill>
          <a:ln w="9525">
            <a:solidFill>
              <a:srgbClr val="D6E2E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657600" y="1984248"/>
            <a:ext cx="603504" cy="60350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4" name="Image 2" descr="/home/claude/slides/icons/ticket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4511" y="2141159"/>
            <a:ext cx="289682" cy="28968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57600" y="267919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 &amp; ma trận giá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3657600" y="299008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tự áp theo giờ, ngày lễ, chi nhánh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409944" y="1783080"/>
            <a:ext cx="2770632" cy="1700784"/>
          </a:xfrm>
          <a:prstGeom prst="roundRect">
            <a:avLst>
              <a:gd name="adj" fmla="val 3763"/>
            </a:avLst>
          </a:prstGeom>
          <a:solidFill>
            <a:srgbClr val="EAF2F8"/>
          </a:solidFill>
          <a:ln w="9525">
            <a:solidFill>
              <a:srgbClr val="D6E2EC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611112" y="1984248"/>
            <a:ext cx="603504" cy="60350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9" name="Image 3" descr="/home/claude/slides/icons/register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8023" y="2141159"/>
            <a:ext cx="289682" cy="28968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611112" y="267919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Bán hàng tại quầy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6611112" y="299008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chạm/bill • hoạt động cả khi mất mạng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9363456" y="1783080"/>
            <a:ext cx="2770632" cy="1700784"/>
          </a:xfrm>
          <a:prstGeom prst="roundRect">
            <a:avLst>
              <a:gd name="adj" fmla="val 3763"/>
            </a:avLst>
          </a:prstGeom>
          <a:solidFill>
            <a:srgbClr val="EAF2F8"/>
          </a:solidFill>
          <a:ln w="9525">
            <a:solidFill>
              <a:srgbClr val="D6E2EC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9564624" y="1984248"/>
            <a:ext cx="603504" cy="60350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4" name="Image 4" descr="/home/claude/slides/icons/money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1535" y="2141159"/>
            <a:ext cx="289682" cy="28968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564624" y="267919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chính &amp; đối soát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9564624" y="299008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Khớp tiền 3 chiều trong 24 giờ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502920" y="3666744"/>
            <a:ext cx="2770632" cy="1700784"/>
          </a:xfrm>
          <a:prstGeom prst="roundRect">
            <a:avLst>
              <a:gd name="adj" fmla="val 3763"/>
            </a:avLst>
          </a:prstGeom>
          <a:solidFill>
            <a:srgbClr val="EAF2F8"/>
          </a:solidFill>
          <a:ln w="9525">
            <a:solidFill>
              <a:srgbClr val="D6E2EC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704088" y="3867912"/>
            <a:ext cx="603504" cy="60350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9" name="Image 5" descr="/home/claude/slides/icons/truck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999" y="4024823"/>
            <a:ext cx="289682" cy="28968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04088" y="4562856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 hàng &amp; NCC</a:t>
            </a:r>
            <a:endParaRPr lang="en-US" sz="1350" dirty="0"/>
          </a:p>
        </p:txBody>
      </p:sp>
      <p:sp>
        <p:nvSpPr>
          <p:cNvPr id="31" name="Text 23"/>
          <p:cNvSpPr/>
          <p:nvPr/>
        </p:nvSpPr>
        <p:spPr>
          <a:xfrm>
            <a:off x="704088" y="487375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có phê duyệt, giá lưu vết theo ngày</a:t>
            </a:r>
            <a:endParaRPr lang="en-US" sz="1050" dirty="0"/>
          </a:p>
        </p:txBody>
      </p:sp>
      <p:sp>
        <p:nvSpPr>
          <p:cNvPr id="32" name="Shape 24"/>
          <p:cNvSpPr/>
          <p:nvPr/>
        </p:nvSpPr>
        <p:spPr>
          <a:xfrm>
            <a:off x="3456432" y="3666744"/>
            <a:ext cx="2770632" cy="1700784"/>
          </a:xfrm>
          <a:prstGeom prst="roundRect">
            <a:avLst>
              <a:gd name="adj" fmla="val 3763"/>
            </a:avLst>
          </a:prstGeom>
          <a:solidFill>
            <a:srgbClr val="EAF2F8"/>
          </a:solidFill>
          <a:ln w="9525">
            <a:solidFill>
              <a:srgbClr val="D6E2EC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3657600" y="3867912"/>
            <a:ext cx="603504" cy="60350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4" name="Image 6" descr="/home/claude/slides/icons/warehouse_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4511" y="4024823"/>
            <a:ext cx="289682" cy="289682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3657600" y="4562856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 &amp; hao hụt</a:t>
            </a:r>
            <a:endParaRPr lang="en-US" sz="1350" dirty="0"/>
          </a:p>
        </p:txBody>
      </p:sp>
      <p:sp>
        <p:nvSpPr>
          <p:cNvPr id="36" name="Text 27"/>
          <p:cNvSpPr/>
          <p:nvPr/>
        </p:nvSpPr>
        <p:spPr>
          <a:xfrm>
            <a:off x="3657600" y="487375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kê hằng ngày, so định mức</a:t>
            </a:r>
            <a:endParaRPr lang="en-US" sz="1050" dirty="0"/>
          </a:p>
        </p:txBody>
      </p:sp>
      <p:sp>
        <p:nvSpPr>
          <p:cNvPr id="37" name="Shape 28"/>
          <p:cNvSpPr/>
          <p:nvPr/>
        </p:nvSpPr>
        <p:spPr>
          <a:xfrm>
            <a:off x="6409944" y="3666744"/>
            <a:ext cx="2770632" cy="1700784"/>
          </a:xfrm>
          <a:prstGeom prst="roundRect">
            <a:avLst>
              <a:gd name="adj" fmla="val 3763"/>
            </a:avLst>
          </a:prstGeom>
          <a:solidFill>
            <a:srgbClr val="EAF2F8"/>
          </a:solidFill>
          <a:ln w="9525">
            <a:solidFill>
              <a:srgbClr val="D6E2EC"/>
            </a:solidFill>
            <a:prstDash val="solid"/>
          </a:ln>
        </p:spPr>
      </p:sp>
      <p:sp>
        <p:nvSpPr>
          <p:cNvPr id="38" name="Shape 29"/>
          <p:cNvSpPr/>
          <p:nvPr/>
        </p:nvSpPr>
        <p:spPr>
          <a:xfrm>
            <a:off x="6611112" y="3867912"/>
            <a:ext cx="603504" cy="60350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9" name="Image 7" descr="/home/claude/slides/icons/chart_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8023" y="4024823"/>
            <a:ext cx="289682" cy="289682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6611112" y="4562856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điều hành</a:t>
            </a:r>
            <a:endParaRPr lang="en-US" sz="1350" dirty="0"/>
          </a:p>
        </p:txBody>
      </p:sp>
      <p:sp>
        <p:nvSpPr>
          <p:cNvPr id="41" name="Text 31"/>
          <p:cNvSpPr/>
          <p:nvPr/>
        </p:nvSpPr>
        <p:spPr>
          <a:xfrm>
            <a:off x="6611112" y="487375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7h sáng • P&amp;L từng chi nhánh</a:t>
            </a:r>
            <a:endParaRPr lang="en-US" sz="1050" dirty="0"/>
          </a:p>
        </p:txBody>
      </p:sp>
      <p:sp>
        <p:nvSpPr>
          <p:cNvPr id="42" name="Shape 32"/>
          <p:cNvSpPr/>
          <p:nvPr/>
        </p:nvSpPr>
        <p:spPr>
          <a:xfrm>
            <a:off x="9363456" y="3666744"/>
            <a:ext cx="2770632" cy="1700784"/>
          </a:xfrm>
          <a:prstGeom prst="roundRect">
            <a:avLst>
              <a:gd name="adj" fmla="val 3763"/>
            </a:avLst>
          </a:prstGeom>
          <a:solidFill>
            <a:srgbClr val="EAF2F8"/>
          </a:solidFill>
          <a:ln w="9525">
            <a:solidFill>
              <a:srgbClr val="D6E2EC"/>
            </a:solidFill>
            <a:prstDash val="solid"/>
          </a:ln>
        </p:spPr>
      </p:sp>
      <p:sp>
        <p:nvSpPr>
          <p:cNvPr id="43" name="Shape 33"/>
          <p:cNvSpPr/>
          <p:nvPr/>
        </p:nvSpPr>
        <p:spPr>
          <a:xfrm>
            <a:off x="9564624" y="3867912"/>
            <a:ext cx="603504" cy="60350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44" name="Image 8" descr="/home/claude/slides/icons/shield_w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21535" y="4024823"/>
            <a:ext cx="289682" cy="289682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9564624" y="4562856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Giám sát &amp; chống gian lận</a:t>
            </a:r>
            <a:endParaRPr lang="en-US" sz="1350" dirty="0"/>
          </a:p>
        </p:txBody>
      </p:sp>
      <p:sp>
        <p:nvSpPr>
          <p:cNvPr id="46" name="Text 35"/>
          <p:cNvSpPr/>
          <p:nvPr/>
        </p:nvSpPr>
        <p:spPr>
          <a:xfrm>
            <a:off x="9564624" y="487375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vết bất biến, cảnh báo theo ca</a:t>
            </a:r>
            <a:endParaRPr lang="en-US" sz="1050" dirty="0"/>
          </a:p>
        </p:txBody>
      </p:sp>
      <p:sp>
        <p:nvSpPr>
          <p:cNvPr id="47" name="Shape 36"/>
          <p:cNvSpPr/>
          <p:nvPr/>
        </p:nvSpPr>
        <p:spPr>
          <a:xfrm>
            <a:off x="502920" y="5687568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FDEBEA"/>
          </a:solidFill>
          <a:ln/>
        </p:spPr>
      </p:sp>
      <p:sp>
        <p:nvSpPr>
          <p:cNvPr id="48" name="Text 37"/>
          <p:cNvSpPr/>
          <p:nvPr/>
        </p:nvSpPr>
        <p:spPr>
          <a:xfrm>
            <a:off x="731520" y="57607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Phạm vi khóa:  </a:t>
            </a:r>
            <a:pPr indent="0" marL="0">
              <a:buNone/>
            </a:pPr>
            <a:r>
              <a:rPr lang="en-US" sz="125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 thu phát sinh duy nhất từ bán vé buffet — mọi nhu cầu khác đi vào lộ trình v1.1/v2, bảo vệ tiến độ và ngân sách của chính dự án.</a:t>
            </a:r>
            <a:endParaRPr lang="en-US" sz="1250" dirty="0"/>
          </a:p>
        </p:txBody>
      </p:sp>
      <p:sp>
        <p:nvSpPr>
          <p:cNvPr id="49" name="Text 38"/>
          <p:cNvSpPr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ILikeBuffet — Đề xuất dự án hệ thống quản lý &amp; bán hàng   | 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TRỊ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Năm cam kết dành cho Chủ chuỗi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31575" y="38404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/home/claude/slides/icons/fish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64712" y="517185"/>
            <a:ext cx="245791" cy="24579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72768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1" descr="/home/claude/slides/icons/sun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816" y="1743944"/>
            <a:ext cx="316017" cy="31601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155448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7h sáng — nắm toàn chuỗi trong 30 giây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417320" y="190195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 thu &amp; số khách từng chi nhánh, cost/khách, tiền về đủ chưa, bất thường cần xử lý — một màn hình, xem từ điện thoại.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1417320" y="2441448"/>
            <a:ext cx="10241280" cy="0"/>
          </a:xfrm>
          <a:prstGeom prst="line">
            <a:avLst/>
          </a:prstGeom>
          <a:noFill/>
          <a:ln w="9525">
            <a:solidFill>
              <a:srgbClr val="D6E2EC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48640" y="2542032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2" descr="/home/claude/slides/icons/clock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16" y="2713208"/>
            <a:ext cx="316017" cy="31601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2523744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lệch lộ ra trong 24 giờ, không phải cuối tháng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417320" y="287121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soát 3 chiều tự động; kiểm kê kho hằng ngày; chênh lệch truy về từng ca, từng thu ngân.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1417320" y="3410712"/>
            <a:ext cx="10241280" cy="0"/>
          </a:xfrm>
          <a:prstGeom prst="line">
            <a:avLst/>
          </a:prstGeom>
          <a:noFill/>
          <a:ln w="9525">
            <a:solidFill>
              <a:srgbClr val="D6E2EC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48640" y="3511296"/>
            <a:ext cx="658368" cy="658368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7" name="Image 3" descr="/home/claude/slides/icons/shield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816" y="3682472"/>
            <a:ext cx="316017" cy="31601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349300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Chống gian lận bằng thiết kế, không bằng lòng tin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417320" y="38404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bill liên tục không nhảy số, phê duyệt bằng PIN, nhật ký bất biến 24 tháng, cảnh báo bất thường theo ca.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1417320" y="4379976"/>
            <a:ext cx="10241280" cy="0"/>
          </a:xfrm>
          <a:prstGeom prst="line">
            <a:avLst/>
          </a:prstGeom>
          <a:noFill/>
          <a:ln w="9525">
            <a:solidFill>
              <a:srgbClr val="D6E2EC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48640" y="4480560"/>
            <a:ext cx="658368" cy="658368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2" name="Image 4" descr="/home/claude/slides/icons/wifioff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816" y="4651736"/>
            <a:ext cx="316017" cy="316017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17320" y="446227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bao giờ dừng bán hàng vì mất mạng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1417320" y="480974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Quầy chạy offline tối thiểu 30 phút, tự đồng bộ an toàn — cam kết không trùng, không mất bill.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1417320" y="5349240"/>
            <a:ext cx="10241280" cy="0"/>
          </a:xfrm>
          <a:prstGeom prst="line">
            <a:avLst/>
          </a:prstGeom>
          <a:noFill/>
          <a:ln w="9525">
            <a:solidFill>
              <a:srgbClr val="D6E2EC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548640" y="5449824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7" name="Image 5" descr="/home/claude/slides/icons/expand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816" y="5621000"/>
            <a:ext cx="316017" cy="316017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417320" y="5431536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chi nhánh mới trong 2 tuần, không cần lập trình</a:t>
            </a:r>
            <a:endParaRPr lang="en-US" sz="1600" dirty="0"/>
          </a:p>
        </p:txBody>
      </p:sp>
      <p:sp>
        <p:nvSpPr>
          <p:cNvPr id="29" name="Text 21"/>
          <p:cNvSpPr/>
          <p:nvPr/>
        </p:nvSpPr>
        <p:spPr>
          <a:xfrm>
            <a:off x="1417320" y="577900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cấu hình + bộ quy trình khai trương chuẩn — sẵn sàng cho lộ trình 3 lên 8 chi nhánh.</a:t>
            </a:r>
            <a:endParaRPr lang="en-US" sz="1250" dirty="0"/>
          </a:p>
        </p:txBody>
      </p:sp>
      <p:sp>
        <p:nvSpPr>
          <p:cNvPr id="30" name="Text 22"/>
          <p:cNvSpPr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ILikeBuffet — Đề xuất dự án hệ thống quản lý &amp; bán hàng   | 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HỆ TRỌNG TÂM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Bán hàng tại quầy — nhanh, và không thể "chết"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Nơi phát sinh 100% doanh thu: thiết kế cho tốc độ giờ cao điểm và độ ổn định tuyệt đối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1231575" y="38404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slides/icons/fish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64712" y="517185"/>
            <a:ext cx="245791" cy="24579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1737360"/>
            <a:ext cx="3611880" cy="2286000"/>
          </a:xfrm>
          <a:prstGeom prst="roundRect">
            <a:avLst>
              <a:gd name="adj" fmla="val 2800"/>
            </a:avLst>
          </a:prstGeom>
          <a:solidFill>
            <a:srgbClr val="EAF2F8"/>
          </a:solidFill>
          <a:ln w="9525">
            <a:solidFill>
              <a:srgbClr val="D6E2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1938528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9" name="Image 1" descr="/home/claude/slides/icons/register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1" y="2104949"/>
            <a:ext cx="307238" cy="30723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" y="2697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chạm • 30 giây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731520" y="31546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một bill — chọn vé, thanh toán, in. Giá tự áp theo khung giờ/ngày lễ, thu ngân không sửa được giá.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325112" y="1737360"/>
            <a:ext cx="3611880" cy="2286000"/>
          </a:xfrm>
          <a:prstGeom prst="roundRect">
            <a:avLst>
              <a:gd name="adj" fmla="val 2800"/>
            </a:avLst>
          </a:prstGeom>
          <a:solidFill>
            <a:srgbClr val="EAF2F8"/>
          </a:solidFill>
          <a:ln w="9525">
            <a:solidFill>
              <a:srgbClr val="D6E2E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53712" y="1938528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4" name="Image 2" descr="/home/claude/slides/icons/wifioff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0133" y="2104949"/>
            <a:ext cx="307238" cy="30723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53712" y="2697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30 phút</a:t>
            </a:r>
            <a:endParaRPr lang="en-US" sz="2100" dirty="0"/>
          </a:p>
        </p:txBody>
      </p:sp>
      <p:sp>
        <p:nvSpPr>
          <p:cNvPr id="16" name="Text 11"/>
          <p:cNvSpPr/>
          <p:nvPr/>
        </p:nvSpPr>
        <p:spPr>
          <a:xfrm>
            <a:off x="4553712" y="31546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mất mạng vẫn bán và in bill bình thường; tự đồng bộ khi có mạng — kiểm thử 6 kịch bản khắc nghiệt.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147304" y="1737360"/>
            <a:ext cx="3611880" cy="2286000"/>
          </a:xfrm>
          <a:prstGeom prst="roundRect">
            <a:avLst>
              <a:gd name="adj" fmla="val 2800"/>
            </a:avLst>
          </a:prstGeom>
          <a:solidFill>
            <a:srgbClr val="EAF2F8"/>
          </a:solidFill>
          <a:ln w="9525">
            <a:solidFill>
              <a:srgbClr val="D6E2EC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375904" y="1938528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3" descr="/home/claude/slides/icons/clipboard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2325" y="2104949"/>
            <a:ext cx="307238" cy="30723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375904" y="2697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Chốt ca 10 phút</a:t>
            </a:r>
            <a:endParaRPr lang="en-US" sz="2100" dirty="0"/>
          </a:p>
        </p:txBody>
      </p:sp>
      <p:sp>
        <p:nvSpPr>
          <p:cNvPr id="21" name="Text 15"/>
          <p:cNvSpPr/>
          <p:nvPr/>
        </p:nvSpPr>
        <p:spPr>
          <a:xfrm>
            <a:off x="8375904" y="31546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tính sẵn mọi số liệu, thu ngân chỉ nhập tiền đếm thực tế; chênh lệch két hiện ngay.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502920" y="4343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 MỘT CA BÁN HÀNG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502920" y="4709160"/>
            <a:ext cx="2048256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6E2EC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576072" y="4800600"/>
            <a:ext cx="1901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ca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(tiền đầu ca)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2551176" y="495604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0"/>
          <p:cNvSpPr/>
          <p:nvPr/>
        </p:nvSpPr>
        <p:spPr>
          <a:xfrm>
            <a:off x="2843784" y="4709160"/>
            <a:ext cx="2048256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6E2EC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2916936" y="4800600"/>
            <a:ext cx="1901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Bán vé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(giá tự áp)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4892040" y="495604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3"/>
          <p:cNvSpPr/>
          <p:nvPr/>
        </p:nvSpPr>
        <p:spPr>
          <a:xfrm>
            <a:off x="5184648" y="4709160"/>
            <a:ext cx="2048256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6E2EC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5257800" y="4800600"/>
            <a:ext cx="1901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Thanh toán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(QR/tiền mặt/thẻ)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7232904" y="495604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Shape 26"/>
          <p:cNvSpPr/>
          <p:nvPr/>
        </p:nvSpPr>
        <p:spPr>
          <a:xfrm>
            <a:off x="7525512" y="4709160"/>
            <a:ext cx="2048256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6E2EC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7598664" y="4800600"/>
            <a:ext cx="1901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bill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(số liên tục)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9573768" y="495604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5" name="Shape 29"/>
          <p:cNvSpPr/>
          <p:nvPr/>
        </p:nvSpPr>
        <p:spPr>
          <a:xfrm>
            <a:off x="9866376" y="4709160"/>
            <a:ext cx="2048256" cy="960120"/>
          </a:xfrm>
          <a:prstGeom prst="roundRect">
            <a:avLst>
              <a:gd name="adj" fmla="val 7619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9939528" y="4800600"/>
            <a:ext cx="1901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Chốt ca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(phiếu ký nhận)</a:t>
            </a:r>
            <a:endParaRPr lang="en-US" sz="1150" dirty="0"/>
          </a:p>
        </p:txBody>
      </p:sp>
      <p:sp>
        <p:nvSpPr>
          <p:cNvPr id="37" name="Text 31"/>
          <p:cNvSpPr/>
          <p:nvPr/>
        </p:nvSpPr>
        <p:spPr>
          <a:xfrm>
            <a:off x="502920" y="587044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liệu chốt ca tự đổ về màn hình đối soát của kế toán và dashboard của Chủ chuỗi — không ai phải gõ lại.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ILikeBuffet — Đề xuất dự án hệ thống quản lý &amp; bán hàng   | 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SOÁT TIỀN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soát 3 chiều — tiền về đủ chưa, thiếu ở đâu?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31575" y="38404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/home/claude/slides/icons/fish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64712" y="517185"/>
            <a:ext cx="245791" cy="24579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828800"/>
            <a:ext cx="2468880" cy="1965960"/>
          </a:xfrm>
          <a:prstGeom prst="roundRect">
            <a:avLst>
              <a:gd name="adj" fmla="val 3256"/>
            </a:avLst>
          </a:prstGeom>
          <a:solidFill>
            <a:srgbClr val="EAF2F8"/>
          </a:solidFill>
          <a:ln w="9525">
            <a:solidFill>
              <a:srgbClr val="D6E2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08760" y="201168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1" descr="/home/claude/slides/icons/desktop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955" y="2201875"/>
            <a:ext cx="351130" cy="3511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9808" y="2852928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 THU HỆ THỐNG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777240" y="316382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bill bán vé, chi tiết theo ca &amp; phương thức thanh toán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108960" y="260604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3429000" y="1828800"/>
            <a:ext cx="2468880" cy="1965960"/>
          </a:xfrm>
          <a:prstGeom prst="roundRect">
            <a:avLst>
              <a:gd name="adj" fmla="val 3256"/>
            </a:avLst>
          </a:prstGeom>
          <a:solidFill>
            <a:srgbClr val="EAF2F8"/>
          </a:solidFill>
          <a:ln w="9525">
            <a:solidFill>
              <a:srgbClr val="D6E2E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297680" y="201168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4" name="Image 2" descr="/home/claude/slides/icons/cash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7875" y="2201875"/>
            <a:ext cx="351130" cy="35113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38728" y="2852928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TIỀN KÉT THỰC NỘP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3566160" y="316382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ngân đếm và chốt ca, có phiếu ký nhận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5897880" y="260604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6217920" y="1828800"/>
            <a:ext cx="2468880" cy="1965960"/>
          </a:xfrm>
          <a:prstGeom prst="roundRect">
            <a:avLst>
              <a:gd name="adj" fmla="val 3256"/>
            </a:avLst>
          </a:prstGeom>
          <a:solidFill>
            <a:srgbClr val="EAF2F8"/>
          </a:solidFill>
          <a:ln w="9525">
            <a:solidFill>
              <a:srgbClr val="D6E2EC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086600" y="201168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0" name="Image 3" descr="/home/claude/slides/icons/bank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6795" y="2201875"/>
            <a:ext cx="351130" cy="35113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27648" y="2852928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TIỀN VỀ NGÂN HÀNG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6355080" y="316382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sao kê; giao dịch QR gắn số bill khớp tự động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9144000" y="1828800"/>
            <a:ext cx="2514600" cy="1965960"/>
          </a:xfrm>
          <a:prstGeom prst="roundRect">
            <a:avLst>
              <a:gd name="adj" fmla="val 3721"/>
            </a:avLst>
          </a:prstGeom>
          <a:solidFill>
            <a:srgbClr val="21295C"/>
          </a:solidFill>
          <a:ln/>
        </p:spPr>
      </p:sp>
      <p:sp>
        <p:nvSpPr>
          <p:cNvPr id="24" name="Text 18"/>
          <p:cNvSpPr/>
          <p:nvPr/>
        </p:nvSpPr>
        <p:spPr>
          <a:xfrm>
            <a:off x="9281160" y="20574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CHÊNH LỆCH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LỘ RA TRONG 24H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9281160" y="28803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Tô đỏ tự động, truy về từng ca, từng thu ngân — kèm luồng giải trình &amp; xử lý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8705088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7" name="Shape 21"/>
          <p:cNvSpPr/>
          <p:nvPr/>
        </p:nvSpPr>
        <p:spPr>
          <a:xfrm>
            <a:off x="640080" y="4160520"/>
            <a:ext cx="539496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E2EC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868680" y="43891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9" name="Image 4" descr="/home/claude/slides/icons/calendar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326" y="4531766"/>
            <a:ext cx="263347" cy="263347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600200" y="438912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Lưới tháng "sạch hay bẩn"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1600200" y="4718304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ngày × chi nhánh là một ô xanh (khớp) hoặc đỏ (lệch). Chủ chuỗi nhìn 5 giây biết cả tháng — chênh lệch tồn quá 3 ngày tự cảnh báo.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6263640" y="4160520"/>
            <a:ext cx="539496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E2EC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6492240" y="43891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4" name="Image 5" descr="/home/claude/slides/icons/lock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4886" y="4531766"/>
            <a:ext cx="263347" cy="263347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223760" y="438912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Khóa sổ — quá khứ bất biến</a:t>
            </a:r>
            <a:endParaRPr lang="en-US" sz="1400" dirty="0"/>
          </a:p>
        </p:txBody>
      </p:sp>
      <p:sp>
        <p:nvSpPr>
          <p:cNvPr id="36" name="Text 28"/>
          <p:cNvSpPr/>
          <p:nvPr/>
        </p:nvSpPr>
        <p:spPr>
          <a:xfrm>
            <a:off x="7223760" y="4718304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Ngày đã khóa sổ đóng băng tuyệt đối; mọi thay đổi về sau đi bằng phiếu điều chỉnh có ghi vết — chuẩn mực của một hệ thống quản lý tiền.</a:t>
            </a:r>
            <a:endParaRPr lang="en-US" sz="1150" dirty="0"/>
          </a:p>
        </p:txBody>
      </p:sp>
      <p:sp>
        <p:nvSpPr>
          <p:cNvPr id="37" name="Text 29"/>
          <p:cNvSpPr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ILikeBuffet — Đề xuất dự án hệ thống quản lý &amp; bán hàng   | 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 &amp; HAO HỤT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Tiền đang "rơi" ở đâu — biết ngay trong ngày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31575" y="38404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/home/claude/slides/icons/fish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64712" y="517185"/>
            <a:ext cx="245791" cy="24579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27632"/>
            <a:ext cx="621792" cy="62179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1" descr="/home/claude/slides/icons/clipboard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306" y="1789298"/>
            <a:ext cx="298460" cy="2984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160934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kê hằng ngày trên máy tính bảng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1371600" y="1938528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Hải sản tươi đếm mỗi ngày, đồ khô mỗi tuần; người đếm không nhìn thấy tồn lý thuyết — chống "nhìn số chép số".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48640" y="2706624"/>
            <a:ext cx="621792" cy="62179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2" descr="/home/claude/slides/icons/warn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306" y="2868290"/>
            <a:ext cx="298460" cy="2984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2688336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Vượt định mức = bắt buộc nguyên nhân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1371600" y="3017520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Chênh lệch so định mức tô đỏ, phải chọn nguyên nhân trước khi xác nhận — và lên thẳng dashboard Chủ chuỗi ngay trong ngày.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548640" y="3785616"/>
            <a:ext cx="621792" cy="62179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3" descr="/home/claude/slides/icons/truck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306" y="3947282"/>
            <a:ext cx="298460" cy="2984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71600" y="3767328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nhập lưu vết theo ngày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1371600" y="4096512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hàng ghi giá thực tế; mua lệch &gt;15% mặt bằng chuỗi được cảnh báo; nhận hàng tự sinh nhập kho &amp; công nợ — không nhập hai lần.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548640" y="4864608"/>
            <a:ext cx="621792" cy="62179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9" name="Image 4" descr="/home/claude/slides/icons/chart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306" y="5026274"/>
            <a:ext cx="298460" cy="2984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371600" y="484632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nguyên liệu "ăn tiền"</a:t>
            </a:r>
            <a:endParaRPr lang="en-US" sz="1450" dirty="0"/>
          </a:p>
        </p:txBody>
      </p:sp>
      <p:sp>
        <p:nvSpPr>
          <p:cNvPr id="21" name="Text 14"/>
          <p:cNvSpPr/>
          <p:nvPr/>
        </p:nvSpPr>
        <p:spPr>
          <a:xfrm>
            <a:off x="1371600" y="5175504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hao hụt xếp hạng chi nhánh và chỉ mặt nguyên liệu thất thoát giá trị lớn nhất — hành động đúng chỗ.</a:t>
            </a:r>
            <a:endParaRPr lang="en-US" sz="1150" dirty="0"/>
          </a:p>
        </p:txBody>
      </p:sp>
      <p:sp>
        <p:nvSpPr>
          <p:cNvPr id="22" name="Shape 15"/>
          <p:cNvSpPr/>
          <p:nvPr/>
        </p:nvSpPr>
        <p:spPr>
          <a:xfrm>
            <a:off x="7863840" y="1737360"/>
            <a:ext cx="3794760" cy="2377440"/>
          </a:xfrm>
          <a:prstGeom prst="roundRect">
            <a:avLst>
              <a:gd name="adj" fmla="val 3846"/>
            </a:avLst>
          </a:prstGeom>
          <a:solidFill>
            <a:srgbClr val="21295C"/>
          </a:solidFill>
          <a:ln/>
        </p:spPr>
      </p:sp>
      <p:sp>
        <p:nvSpPr>
          <p:cNvPr id="23" name="Text 16"/>
          <p:cNvSpPr/>
          <p:nvPr/>
        </p:nvSpPr>
        <p:spPr>
          <a:xfrm>
            <a:off x="8092440" y="19385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AEB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SỐ VÀNG CỦA BUFFET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8092440" y="223113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/ KHÁCH</a:t>
            </a:r>
            <a:endParaRPr lang="en-US" sz="2700" dirty="0"/>
          </a:p>
        </p:txBody>
      </p:sp>
      <p:sp>
        <p:nvSpPr>
          <p:cNvPr id="25" name="Text 18"/>
          <p:cNvSpPr/>
          <p:nvPr/>
        </p:nvSpPr>
        <p:spPr>
          <a:xfrm>
            <a:off x="8092440" y="27614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 Giá trị xuất chế biến ÷ Tổng số khách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8092440" y="31546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từng ngày × chi nhánh, ngưỡng đỏ cấu hình riêng — căn cứ điều chỉnh giá vé và kế hoạch mua hàng.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7863840" y="4343400"/>
            <a:ext cx="3794760" cy="1417320"/>
          </a:xfrm>
          <a:prstGeom prst="roundRect">
            <a:avLst>
              <a:gd name="adj" fmla="val 4516"/>
            </a:avLst>
          </a:prstGeom>
          <a:solidFill>
            <a:srgbClr val="EAF2F8"/>
          </a:solidFill>
          <a:ln w="9525">
            <a:solidFill>
              <a:srgbClr val="D6E2EC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8092440" y="44988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MỨC HAO HỤT THEO DÕI TỰ ĐỘNG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8092440" y="479145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Hải sản tươi ≤ 5%</a:t>
            </a:r>
            <a:pPr indent="0" marL="0">
              <a:buNone/>
            </a:pPr>
            <a:r>
              <a:rPr lang="en-US" sz="15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 khô ≤ 1%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8092440" y="51755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(điều chỉnh theo thực tế vận hành từng chi nhánh)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ILikeBuffet — Đề xuất dự án hệ thống quản lý &amp; bán hàng   | 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GIÁM SÁT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lớp chống gian lận quầy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Rủi ro số 1 của mô hình bán vé: thu tiền nhưng không xuất bill — hệ thống được thiết kế để điều đó không thể diễn ra âm thầm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1231575" y="38404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slides/icons/fish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64712" y="517185"/>
            <a:ext cx="245791" cy="24579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1965960"/>
            <a:ext cx="3611880" cy="3291840"/>
          </a:xfrm>
          <a:prstGeom prst="roundRect">
            <a:avLst>
              <a:gd name="adj" fmla="val 1944"/>
            </a:avLst>
          </a:prstGeom>
          <a:solidFill>
            <a:srgbClr val="EAF2F8"/>
          </a:solidFill>
          <a:ln w="9525">
            <a:solidFill>
              <a:srgbClr val="D6E2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194560"/>
            <a:ext cx="713232" cy="71323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9" name="Image 1" descr="/home/claude/slides/icons/barcode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960" y="2380000"/>
            <a:ext cx="342351" cy="34235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" y="30632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 1 — Dải số bill liên tục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31520" y="36576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bill tăng liên tục theo ngày, bill hủy giữ nguyên số. Bất kỳ "lỗ hổng" nào trong dải số đều được hệ thống tự liệt kê và tô đỏ.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325112" y="1965960"/>
            <a:ext cx="3611880" cy="3291840"/>
          </a:xfrm>
          <a:prstGeom prst="roundRect">
            <a:avLst>
              <a:gd name="adj" fmla="val 1944"/>
            </a:avLst>
          </a:prstGeom>
          <a:solidFill>
            <a:srgbClr val="EAF2F8"/>
          </a:solidFill>
          <a:ln w="9525">
            <a:solidFill>
              <a:srgbClr val="D6E2E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53712" y="2194560"/>
            <a:ext cx="713232" cy="713232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4" name="Image 2" descr="/home/claude/slides/icons/lock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152" y="2380000"/>
            <a:ext cx="342351" cy="34235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53712" y="30632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 2 — Phê duyệt &amp; ghi vết bất biến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4553712" y="36576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giá vượt ngưỡng, hủy bill, sửa phiếu đều cần PIN Quản lý; mọi thao tác lưu nhật ký không thể xóa trong 24 tháng — kể cả quản trị.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8147304" y="1965960"/>
            <a:ext cx="3611880" cy="3291840"/>
          </a:xfrm>
          <a:prstGeom prst="roundRect">
            <a:avLst>
              <a:gd name="adj" fmla="val 1944"/>
            </a:avLst>
          </a:prstGeom>
          <a:solidFill>
            <a:srgbClr val="EAF2F8"/>
          </a:solidFill>
          <a:ln w="9525">
            <a:solidFill>
              <a:srgbClr val="D6E2EC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375904" y="2194560"/>
            <a:ext cx="713232" cy="71323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3" descr="/home/claude/slides/icons/eye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1344" y="2380000"/>
            <a:ext cx="342351" cy="34235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375904" y="30632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 3 — Cảnh báo bất thường theo ca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8375904" y="36576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giám sát: số bill hủy, tỷ lệ giảm giá, chênh lệch két, ghi đè tồn âm, mua hàng không PO — vượt ngưỡng đẩy lên dashboard Chủ chuỗi.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502920" y="56235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là quy trình minh bạch cho tất cả mọi người — nhân viên tốt được bảo vệ, sai sót được phát hiện sớm, và mọi con số đều giải trình được.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ILikeBuffet — Đề xuất dự án hệ thống quản lý &amp; bán hàng   | 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HOẠCH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Lộ trình 12 tuần — thanh toán theo giá trị nhìn thấy được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31575" y="38404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/home/claude/slides/icons/fish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64712" y="517185"/>
            <a:ext cx="245791" cy="24579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3063240"/>
            <a:ext cx="10789920" cy="0"/>
          </a:xfrm>
          <a:prstGeom prst="line">
            <a:avLst/>
          </a:prstGeom>
          <a:noFill/>
          <a:ln w="31750">
            <a:solidFill>
              <a:srgbClr val="D6E2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48384" y="2980944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377440"/>
            <a:ext cx="170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· Tuần 1–2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86384" y="3264408"/>
            <a:ext cx="1688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Khởi động + Nền tảng, phân quyền, danh mục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46704" y="2980944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8"/>
          <p:cNvSpPr/>
          <p:nvPr/>
        </p:nvSpPr>
        <p:spPr>
          <a:xfrm>
            <a:off x="2575560" y="2377440"/>
            <a:ext cx="170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· Tuần 3–4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2584704" y="3264408"/>
            <a:ext cx="1688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trận giá + Bán vé, thanh toán, in bill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145024" y="2980944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1"/>
          <p:cNvSpPr/>
          <p:nvPr/>
        </p:nvSpPr>
        <p:spPr>
          <a:xfrm>
            <a:off x="4373880" y="2377440"/>
            <a:ext cx="170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· Tuần 5–6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383024" y="3264408"/>
            <a:ext cx="1688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Chốt ca + chế độ offline + kiểm thử tải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943344" y="2980944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4"/>
          <p:cNvSpPr/>
          <p:nvPr/>
        </p:nvSpPr>
        <p:spPr>
          <a:xfrm>
            <a:off x="6172200" y="2377440"/>
            <a:ext cx="170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· Tuần 7–8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181344" y="3264408"/>
            <a:ext cx="1688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chính, đối soát 3 chiều + Mua hàng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741664" y="2980944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7"/>
          <p:cNvSpPr/>
          <p:nvPr/>
        </p:nvSpPr>
        <p:spPr>
          <a:xfrm>
            <a:off x="7970520" y="2377440"/>
            <a:ext cx="170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· Tuần 9–10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979664" y="3264408"/>
            <a:ext cx="1688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Kho, kiểm kê hao hụt + Dashboard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10539984" y="2980944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Text 20"/>
          <p:cNvSpPr/>
          <p:nvPr/>
        </p:nvSpPr>
        <p:spPr>
          <a:xfrm>
            <a:off x="9768840" y="2377440"/>
            <a:ext cx="170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 · Tuần 11–12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9777984" y="3264408"/>
            <a:ext cx="1688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P&amp;L, Excel, chống gian lận + UAT + CN2, CN3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02920" y="40416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MỐC CHÍNH — M1 VÀ M2 GẮN VỚI THANH TOÁN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02920" y="4370832"/>
            <a:ext cx="3611880" cy="1115568"/>
          </a:xfrm>
          <a:prstGeom prst="roundRect">
            <a:avLst>
              <a:gd name="adj" fmla="val 6557"/>
            </a:avLst>
          </a:prstGeom>
          <a:solidFill>
            <a:srgbClr val="1C7293"/>
          </a:solidFill>
          <a:ln/>
        </p:spPr>
      </p:sp>
      <p:sp>
        <p:nvSpPr>
          <p:cNvPr id="27" name="Text 24"/>
          <p:cNvSpPr/>
          <p:nvPr/>
        </p:nvSpPr>
        <p:spPr>
          <a:xfrm>
            <a:off x="685800" y="4480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KIỂM TRA — TUẦN 6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85800" y="477316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Bán hàng thật tại chi nhánh thí điểm, chạy song song cách cũ 1 tuần (kiểm soát rủi ro nội bộ)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325112" y="4370832"/>
            <a:ext cx="3611880" cy="1115568"/>
          </a:xfrm>
          <a:prstGeom prst="roundRect">
            <a:avLst>
              <a:gd name="adj" fmla="val 6557"/>
            </a:avLst>
          </a:prstGeom>
          <a:solidFill>
            <a:srgbClr val="F96167"/>
          </a:solidFill>
          <a:ln/>
        </p:spPr>
      </p:sp>
      <p:sp>
        <p:nvSpPr>
          <p:cNvPr id="30" name="Text 27"/>
          <p:cNvSpPr/>
          <p:nvPr/>
        </p:nvSpPr>
        <p:spPr>
          <a:xfrm>
            <a:off x="4507992" y="4480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— TUẦN 10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507992" y="477316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 khai trải nghiệm thí điểm ở cửa hàng: các phân hệ vận hành với số liệu thật, báo cáo sáng tự động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8147304" y="4370832"/>
            <a:ext cx="3611880" cy="1115568"/>
          </a:xfrm>
          <a:prstGeom prst="roundRect">
            <a:avLst>
              <a:gd name="adj" fmla="val 6557"/>
            </a:avLst>
          </a:prstGeom>
          <a:solidFill>
            <a:srgbClr val="065A82"/>
          </a:solidFill>
          <a:ln/>
        </p:spPr>
      </p:sp>
      <p:sp>
        <p:nvSpPr>
          <p:cNvPr id="33" name="Text 30"/>
          <p:cNvSpPr/>
          <p:nvPr/>
        </p:nvSpPr>
        <p:spPr>
          <a:xfrm>
            <a:off x="8330184" y="4480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— TUẦN 12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8330184" y="477316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 khai thành công ở cửa hàng: nghiệm thu toàn bộ — 3 chi nhánh vận hành chính thức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502920" y="5623560"/>
            <a:ext cx="11155680" cy="658368"/>
          </a:xfrm>
          <a:prstGeom prst="roundRect">
            <a:avLst>
              <a:gd name="adj" fmla="val 11111"/>
            </a:avLst>
          </a:prstGeom>
          <a:solidFill>
            <a:srgbClr val="EAF2F8"/>
          </a:solidFill>
          <a:ln/>
        </p:spPr>
      </p:sp>
      <p:sp>
        <p:nvSpPr>
          <p:cNvPr id="36" name="Text 33"/>
          <p:cNvSpPr/>
          <p:nvPr/>
        </p:nvSpPr>
        <p:spPr>
          <a:xfrm>
            <a:off x="731520" y="571500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Tiến độ 12 tuần đạt được nhờ:  </a:t>
            </a:r>
            <a:pPr indent="0" marL="0">
              <a:buNone/>
            </a:pPr>
            <a:r>
              <a:rPr lang="en-US" sz="115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tăng cường 4 lập trình viên • 7 hạng mục "Nên có" chuyển v1.1 • khởi động gộp tuần 1 • chi nhánh 2 &amp; 3 triển khai song song — kèm bộ điều kiện tiên quyết hai bên cam kết (slide sau).</a:t>
            </a:r>
            <a:endParaRPr 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ILikeBuffet — Đề xuất dự án hệ thống quản lý &amp; bán hàng   | 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KIỆN THÀNH CÔNG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bên đồng hành — cam kết rõ ràng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31575" y="38404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/home/claude/slides/icons/fish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64712" y="517185"/>
            <a:ext cx="245791" cy="24579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91640"/>
            <a:ext cx="5486400" cy="3794760"/>
          </a:xfrm>
          <a:prstGeom prst="roundRect">
            <a:avLst>
              <a:gd name="adj" fmla="val 1687"/>
            </a:avLst>
          </a:prstGeom>
          <a:solidFill>
            <a:srgbClr val="EAF2F8"/>
          </a:solidFill>
          <a:ln w="9525">
            <a:solidFill>
              <a:srgbClr val="D6E2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1901952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1" descr="/home/claude/slides/icons/check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166" y="2044598"/>
            <a:ext cx="263347" cy="26334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19933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CHÚNG TÔI CAM KẾT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68680" y="2514600"/>
            <a:ext cx="4892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bằng dữ liệu thật của ILikeBuffet cuối mỗi sprint — không demo dữ liệu mẫu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thử offline 6 kịch bản + kiểm thử tải gấp 5 lần trước khi bán thật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Đào tạo theo vai trò + trực hỗ trợ sát 2 tuần đầu tại mỗi chi nhánh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hành 3 tháng; lỗi nghiêm trọng phản hồi trong 2 giờ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tin xấu sớm — trạng thái tiến độ minh bạch hằng tuần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217920" y="1691640"/>
            <a:ext cx="5486400" cy="3794760"/>
          </a:xfrm>
          <a:prstGeom prst="roundRect">
            <a:avLst>
              <a:gd name="adj" fmla="val 1687"/>
            </a:avLst>
          </a:prstGeom>
          <a:solidFill>
            <a:srgbClr val="FFFFFF"/>
          </a:solidFill>
          <a:ln w="9525">
            <a:solidFill>
              <a:srgbClr val="D6E2EC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46520" y="1901952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3" name="Image 2" descr="/home/claude/slides/icons/handshake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9166" y="2044598"/>
            <a:ext cx="263347" cy="26334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78040" y="19933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ILIKEBUFFET ĐỒNG HÀNH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583680" y="2514600"/>
            <a:ext cx="4892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1: chốt 8 quyết định nghiệp vụ trong 1 buổi làm việc; duyệt mẫu bill trong 3 ngày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Cuối tuần 3: dữ liệu đầu kỳ (danh mục, tồn kho, công nợ, quỹ) ký biên bản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Trước tuần 5: phần cứng chi nhánh thí điểm lắp đặt xong (CN2, CN3 trước tuần 11)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Phản hồi câu hỏi nghiệp vụ trong 48 giờ; bố trí nhân sự thí điểm theo lịch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Phạm vi khóa — phát sinh mới đi vào v1.1 qua quy trình thay đổi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02920" y="5715000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FDEBEA"/>
          </a:solidFill>
          <a:ln/>
        </p:spPr>
      </p:sp>
      <p:sp>
        <p:nvSpPr>
          <p:cNvPr id="17" name="Text 12"/>
          <p:cNvSpPr/>
          <p:nvPr/>
        </p:nvSpPr>
        <p:spPr>
          <a:xfrm>
            <a:off x="731520" y="578815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bạch từ đầu:  </a:t>
            </a:r>
            <a:pPr indent="0" marL="0">
              <a:buNone/>
            </a:pPr>
            <a:r>
              <a:rPr lang="en-US" sz="120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tiến độ 12 tuần không có vùng đệm dự phòng — mọi chậm trễ ở đầu vào sẽ dịch chuyển mốc tương ứng và được thông báo ngay trong tuần.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ILikeBuffet — Đề xuất dự án hệ thống quản lý &amp; bán hàng   | 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 TƯ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Thanh toán theo mốc — trả tiền khi thấy giá trị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31575" y="38404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/home/claude/slides/icons/fish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64712" y="517185"/>
            <a:ext cx="245791" cy="24579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78308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065A82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93852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31520" y="27432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ĐỢT 1 · KÝ HỢP ĐỒNG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31520" y="3054096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Ký hợp đồng &amp; hoàn tất tuần khởi động — đặc tả được ký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096512" y="269748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325112" y="178308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F96167"/>
          </a:solidFill>
          <a:ln/>
        </p:spPr>
      </p:sp>
      <p:sp>
        <p:nvSpPr>
          <p:cNvPr id="12" name="Text 9"/>
          <p:cNvSpPr/>
          <p:nvPr/>
        </p:nvSpPr>
        <p:spPr>
          <a:xfrm>
            <a:off x="4553712" y="193852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4400" dirty="0"/>
          </a:p>
        </p:txBody>
      </p:sp>
      <p:sp>
        <p:nvSpPr>
          <p:cNvPr id="13" name="Text 10"/>
          <p:cNvSpPr/>
          <p:nvPr/>
        </p:nvSpPr>
        <p:spPr>
          <a:xfrm>
            <a:off x="4553712" y="27432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ĐỢT 2 · MỐC M1 — TUẦN 10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53712" y="3054096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 khai trải nghiệm thí điểm ở cửa hàng — các phân hệ vận hành với số liệu thật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918704" y="269748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147304" y="178308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21295C"/>
          </a:solidFill>
          <a:ln/>
        </p:spPr>
      </p:sp>
      <p:sp>
        <p:nvSpPr>
          <p:cNvPr id="17" name="Text 14"/>
          <p:cNvSpPr/>
          <p:nvPr/>
        </p:nvSpPr>
        <p:spPr>
          <a:xfrm>
            <a:off x="8375904" y="193852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4400" dirty="0"/>
          </a:p>
        </p:txBody>
      </p:sp>
      <p:sp>
        <p:nvSpPr>
          <p:cNvPr id="18" name="Text 15"/>
          <p:cNvSpPr/>
          <p:nvPr/>
        </p:nvSpPr>
        <p:spPr>
          <a:xfrm>
            <a:off x="8375904" y="27432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ĐỢT 3 · MỐC M2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375904" y="3054096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 khi triển khai thành công ở cửa hàng — nghiệm thu toàn dự án, 3 chi nhánh vận hành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02920" y="4434840"/>
            <a:ext cx="5486400" cy="676656"/>
          </a:xfrm>
          <a:prstGeom prst="roundRect">
            <a:avLst>
              <a:gd name="adj" fmla="val 9459"/>
            </a:avLst>
          </a:prstGeom>
          <a:solidFill>
            <a:srgbClr val="EAF2F8"/>
          </a:solidFill>
          <a:ln w="9525">
            <a:solidFill>
              <a:srgbClr val="D6E2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85800" y="4517136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phí phát triển MVP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2834640" y="4517136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[Theo báo giá đính kèm] — đội ngũ 7 nhân sự × 12 tuần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217920" y="4434840"/>
            <a:ext cx="5486400" cy="676656"/>
          </a:xfrm>
          <a:prstGeom prst="roundRect">
            <a:avLst>
              <a:gd name="adj" fmla="val 9459"/>
            </a:avLst>
          </a:prstGeom>
          <a:solidFill>
            <a:srgbClr val="EAF2F8"/>
          </a:solidFill>
          <a:ln w="9525">
            <a:solidFill>
              <a:srgbClr val="D6E2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00800" y="4517136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cứng chi nhánh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8549640" y="4517136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8–15 triệu đồng/chi nhánh (ILikeBuffet trang bị theo cấu hình chuẩn)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02920" y="5221224"/>
            <a:ext cx="5486400" cy="676656"/>
          </a:xfrm>
          <a:prstGeom prst="roundRect">
            <a:avLst>
              <a:gd name="adj" fmla="val 9459"/>
            </a:avLst>
          </a:prstGeom>
          <a:solidFill>
            <a:srgbClr val="EAF2F8"/>
          </a:solidFill>
          <a:ln w="9525">
            <a:solidFill>
              <a:srgbClr val="D6E2E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85800" y="53035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 tầng vận hành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2834640" y="5303520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triệu đồng/tháng cho quy mô tới 8 chi nhánh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217920" y="5221224"/>
            <a:ext cx="5486400" cy="676656"/>
          </a:xfrm>
          <a:prstGeom prst="roundRect">
            <a:avLst>
              <a:gd name="adj" fmla="val 9459"/>
            </a:avLst>
          </a:prstGeom>
          <a:solidFill>
            <a:srgbClr val="EAF2F8"/>
          </a:solidFill>
          <a:ln w="9525">
            <a:solidFill>
              <a:srgbClr val="D6E2E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00800" y="53035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v1.1 / v2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8549640" y="5303520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giá &amp; ký kết riêng khi MVP đã chứng minh giá trị bằng số liệu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502920" y="605332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Đợt 1 bảo đảm nguồn lực khởi động trọn vẹn cho tiến độ 12 tuần; hai đợt còn lại gắn trực tiếp với kết quả vận hành thật tại cửa hàng.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ILikeBuffet — Đề xuất dự án hệ thống quản lý &amp; bán hàng   | 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" y="731520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4" name="Image 0" descr="/home/claude/slides/icons/fish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435" y="921715"/>
            <a:ext cx="351130" cy="3511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868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TIẾP THEO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22960" y="15544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việc để bắt đầu ngay tuần này</a:t>
            </a:r>
            <a:endParaRPr lang="en-US" sz="3300" dirty="0"/>
          </a:p>
        </p:txBody>
      </p:sp>
      <p:sp>
        <p:nvSpPr>
          <p:cNvPr id="7" name="Shape 4"/>
          <p:cNvSpPr/>
          <p:nvPr/>
        </p:nvSpPr>
        <p:spPr>
          <a:xfrm>
            <a:off x="822960" y="2514600"/>
            <a:ext cx="777240" cy="7772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2587752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1874520" y="251460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Chốt 8 quyết định nghiệp vụ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874520" y="2898648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buổi làm việc 90 phút — danh sách kèm phương án khuyến nghị đã có sẵn trong tài liệu dự án (Mục 13).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22960" y="3685032"/>
            <a:ext cx="777240" cy="7772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758184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1874520" y="3685032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Ký phê duyệt tài liệu &amp; hợp đồng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874520" y="406908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liệu dự án v2.0 là phụ lục phạm vi không tách rời — thanh toán đợt 1 kích hoạt dự án.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22960" y="4855464"/>
            <a:ext cx="777240" cy="7772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4928616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1874520" y="4855464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Khảo sát thực địa chi nhánh thí điểm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1874520" y="5239512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Đội dự án quan sát trọn 1 ngày vận hành (ưu tiên ca tối cuối tuần) — khởi động tuần 1.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22960" y="6080760"/>
            <a:ext cx="10515600" cy="0"/>
          </a:xfrm>
          <a:prstGeom prst="line">
            <a:avLst/>
          </a:prstGeom>
          <a:noFill/>
          <a:ln w="12700">
            <a:solidFill>
              <a:srgbClr val="3A468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2960" y="62179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[Tên công ty của bạn]   •   [Họ tên PM]   •   [SĐT / Email]   —   Trân trọng cảm ơn ILikeBuffet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2026-07-30T08:24:01Z</dcterms:created>
  <dcterms:modified xsi:type="dcterms:W3CDTF">2026-07-30T08:24:01Z</dcterms:modified>
</cp:coreProperties>
</file>